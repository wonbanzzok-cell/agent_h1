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발전 동향 2026. 출처: research/ai-development-research-2026-10-07.md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1부 기술과 에이전트(3–4쪽), 2부 투자와 에너지(5쪽), 3부 사회와 제도(6–7쪽), 마무리(8쪽).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Stanford AI Index 2026 요약(Stark Insider, Burges Salmon, Lumenova), Epoch AI 추론 가격 추세. 가격 하락 폭은 벤치마크에 따라 연 9배~900배.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 프로젝트의 80%가 의도치 않은 행동(무단 시스템 접근 등)을 보고. 출처: G2 Enterprise AI Agents Report, CMARIX, Ringly.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2026년 설비투자: Amazon 약 2,000억, Microsoft 약 1,900억, Alphabet 1,750–1,850억, Meta 1,150–1,350억 달러. 출처: Yahoo Finance, AI Weekly, The Next Web, IEA(W.Media, Enlit).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도넛: ① 고용 격차 19%, ② 117건 중 2상 완료 6.8%(진한 주황)·1상 완료 51.3%(연한 주황 포함), ③ 사고 362건 중 전년 233건(연한 주황)과 증가분(진한 주황). Insilico의 rentosertib는 2026년 7월 320명 규모 3상 진입.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기본법(인공지능 발전과 신뢰 기반 조성 등에 관한 기본법): 2024년 12월 통과, 2026년 1월 22일 전면 시행. GPU·범용 AI 계획은 과기정통부 2025년 12월 업무계획, 프런티어 모델 계획은 2026년 7월 보도.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요약 5가지. 상세 근거는 research/ai-development-research-2026-10-07.md 9절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bg:diag0"/>
          <p:cNvCxnSpPr/>
          <p:nvPr/>
        </p:nvCxnSpPr>
        <p:spPr>
          <a:xfrm flipV="1">
            <a:off x="9326880" y="457200"/>
            <a:ext cx="731520" cy="731520"/>
          </a:xfrm>
          <a:prstGeom prst="line">
            <a:avLst/>
          </a:prstGeom>
          <a:ln w="12700">
            <a:solidFill>
              <a:srgbClr val="FDE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bg:diag1"/>
          <p:cNvCxnSpPr/>
          <p:nvPr/>
        </p:nvCxnSpPr>
        <p:spPr>
          <a:xfrm flipV="1">
            <a:off x="9875519" y="457200"/>
            <a:ext cx="731521" cy="731520"/>
          </a:xfrm>
          <a:prstGeom prst="line">
            <a:avLst/>
          </a:prstGeom>
          <a:ln w="12700">
            <a:solidFill>
              <a:srgbClr val="FDE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bg:diag2"/>
          <p:cNvCxnSpPr/>
          <p:nvPr/>
        </p:nvCxnSpPr>
        <p:spPr>
          <a:xfrm flipV="1">
            <a:off x="10424159" y="457200"/>
            <a:ext cx="731521" cy="731520"/>
          </a:xfrm>
          <a:prstGeom prst="line">
            <a:avLst/>
          </a:prstGeom>
          <a:ln w="12700">
            <a:solidFill>
              <a:srgbClr val="FDE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g:ring0"/>
          <p:cNvSpPr/>
          <p:nvPr/>
        </p:nvSpPr>
        <p:spPr>
          <a:xfrm>
            <a:off x="10058400" y="4754880"/>
            <a:ext cx="1463040" cy="1463040"/>
          </a:xfrm>
          <a:prstGeom prst="ellipse">
            <a:avLst/>
          </a:prstGeom>
          <a:noFill/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:ring1"/>
          <p:cNvSpPr/>
          <p:nvPr/>
        </p:nvSpPr>
        <p:spPr>
          <a:xfrm>
            <a:off x="10264140" y="4960620"/>
            <a:ext cx="1051560" cy="1051560"/>
          </a:xfrm>
          <a:prstGeom prst="ellipse">
            <a:avLst/>
          </a:prstGeom>
          <a:noFill/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:ring2"/>
          <p:cNvSpPr/>
          <p:nvPr/>
        </p:nvSpPr>
        <p:spPr>
          <a:xfrm>
            <a:off x="10469880" y="5166360"/>
            <a:ext cx="640080" cy="640080"/>
          </a:xfrm>
          <a:prstGeom prst="ellipse">
            <a:avLst/>
          </a:prstGeom>
          <a:noFill/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p:capsule"/>
          <p:cNvSpPr/>
          <p:nvPr/>
        </p:nvSpPr>
        <p:spPr>
          <a:xfrm>
            <a:off x="457200" y="822960"/>
            <a:ext cx="4937760" cy="457200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p:headline"/>
          <p:cNvSpPr txBox="1"/>
          <p:nvPr/>
        </p:nvSpPr>
        <p:spPr>
          <a:xfrm>
            <a:off x="822960" y="1280160"/>
            <a:ext cx="4206240" cy="36576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AI DEVELOPMENT 2026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 빠르게,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 넓게,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고르지 않게</a:t>
            </a:r>
          </a:p>
        </p:txBody>
      </p:sp>
      <p:sp>
        <p:nvSpPr>
          <p:cNvPr id="10" name="title:title"/>
          <p:cNvSpPr txBox="1"/>
          <p:nvPr/>
        </p:nvSpPr>
        <p:spPr>
          <a:xfrm>
            <a:off x="5852160" y="1463040"/>
            <a:ext cx="5882335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5400" b="1" i="1">
                <a:solidFill>
                  <a:srgbClr val="1A1A1A"/>
                </a:solidFill>
                <a:latin typeface="Arial Black"/>
                <a:ea typeface="Malgun Gothic"/>
                <a:cs typeface="Arial Black"/>
              </a:rPr>
              <a:t>AI 발전 동향</a:t>
            </a:r>
          </a:p>
          <a:p>
            <a:pPr algn="l"/>
            <a:r>
              <a:rPr sz="5400" b="1" i="1">
                <a:solidFill>
                  <a:srgbClr val="F26522"/>
                </a:solidFill>
                <a:latin typeface="Arial Black"/>
                <a:ea typeface="Malgun Gothic"/>
                <a:cs typeface="Arial Black"/>
              </a:rPr>
              <a:t>2026</a:t>
            </a:r>
          </a:p>
        </p:txBody>
      </p:sp>
      <p:sp>
        <p:nvSpPr>
          <p:cNvPr id="11" name="subtitle:sub"/>
          <p:cNvSpPr txBox="1"/>
          <p:nvPr/>
        </p:nvSpPr>
        <p:spPr>
          <a:xfrm>
            <a:off x="5852160" y="3429000"/>
            <a:ext cx="5882335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A9A9A"/>
                </a:solidFill>
                <a:latin typeface="Malgun Gothic"/>
                <a:ea typeface="Malgun Gothic"/>
                <a:cs typeface="Malgun Gothic"/>
              </a:rPr>
              <a:t>기술 · 에이전트 · 투자 · 노동 · 규제로 본 AI의 현재</a:t>
            </a:r>
          </a:p>
          <a:p>
            <a:pPr algn="l"/>
            <a:r>
              <a:rPr sz="1400" b="0" i="0">
                <a:solidFill>
                  <a:srgbClr val="9A9A9A"/>
                </a:solidFill>
                <a:latin typeface="Malgun Gothic"/>
                <a:ea typeface="Malgun Gothic"/>
                <a:cs typeface="Malgun Gothic"/>
              </a:rPr>
              <a:t>자료조사 노트(2026-10-07) 기반</a:t>
            </a:r>
          </a:p>
        </p:txBody>
      </p:sp>
      <p:sp>
        <p:nvSpPr>
          <p:cNvPr id="12" name="pill1:pill"/>
          <p:cNvSpPr/>
          <p:nvPr/>
        </p:nvSpPr>
        <p:spPr>
          <a:xfrm>
            <a:off x="457200" y="57607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2026.10</a:t>
            </a:r>
          </a:p>
        </p:txBody>
      </p:sp>
      <p:sp>
        <p:nvSpPr>
          <p:cNvPr id="13" name="pill2:pill"/>
          <p:cNvSpPr/>
          <p:nvPr/>
        </p:nvSpPr>
        <p:spPr>
          <a:xfrm>
            <a:off x="2103120" y="57607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RESEARCH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_tab:tab"/>
          <p:cNvSpPr/>
          <p:nvPr/>
        </p:nvSpPr>
        <p:spPr>
          <a:xfrm>
            <a:off x="457200" y="4114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CONTENTS</a:t>
            </a:r>
          </a:p>
        </p:txBody>
      </p:sp>
      <p:sp>
        <p:nvSpPr>
          <p:cNvPr id="3" name="hdr_title:title"/>
          <p:cNvSpPr txBox="1"/>
          <p:nvPr/>
        </p:nvSpPr>
        <p:spPr>
          <a:xfrm>
            <a:off x="1965960" y="365760"/>
            <a:ext cx="85039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600" b="1" i="1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목차</a:t>
            </a:r>
          </a:p>
        </p:txBody>
      </p:sp>
      <p:sp>
        <p:nvSpPr>
          <p:cNvPr id="4" name="hdr_pill:pill"/>
          <p:cNvSpPr/>
          <p:nvPr/>
        </p:nvSpPr>
        <p:spPr>
          <a:xfrm>
            <a:off x="10728655" y="457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02 / 08</a:t>
            </a:r>
          </a:p>
        </p:txBody>
      </p:sp>
      <p:cxnSp>
        <p:nvCxnSpPr>
          <p:cNvPr id="5" name="hdr_line:line"/>
          <p:cNvCxnSpPr/>
          <p:nvPr/>
        </p:nvCxnSpPr>
        <p:spPr>
          <a:xfrm>
            <a:off x="1965960" y="1051560"/>
            <a:ext cx="9768535" cy="0"/>
          </a:xfrm>
          <a:prstGeom prst="line">
            <a:avLst/>
          </a:prstGeom>
          <a:ln w="9525">
            <a:solidFill>
              <a:srgbClr val="EDE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tr_line:line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0:track"/>
          <p:cNvSpPr/>
          <p:nvPr/>
        </p:nvSpPr>
        <p:spPr>
          <a:xfrm>
            <a:off x="1340967" y="1463040"/>
            <a:ext cx="1828800" cy="1828800"/>
          </a:xfrm>
          <a:prstGeom prst="donut">
            <a:avLst>
              <a:gd name="adj" fmla="val 12000"/>
            </a:avLst>
          </a:prstGeom>
          <a:solidFill>
            <a:srgbClr val="F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0:seg0"/>
          <p:cNvSpPr/>
          <p:nvPr/>
        </p:nvSpPr>
        <p:spPr>
          <a:xfrm>
            <a:off x="1340967" y="1463040"/>
            <a:ext cx="1828800" cy="1828800"/>
          </a:xfrm>
          <a:prstGeom prst="blockArc">
            <a:avLst>
              <a:gd name="adj1" fmla="val 16200000"/>
              <a:gd name="adj2" fmla="val 1800000"/>
              <a:gd name="adj3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0:num"/>
          <p:cNvSpPr txBox="1"/>
          <p:nvPr/>
        </p:nvSpPr>
        <p:spPr>
          <a:xfrm>
            <a:off x="1706727" y="2057400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200" b="1" i="0">
                <a:solidFill>
                  <a:srgbClr val="F26522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10" name="t0:tri"/>
          <p:cNvSpPr/>
          <p:nvPr/>
        </p:nvSpPr>
        <p:spPr>
          <a:xfrm rot="10800000">
            <a:off x="2072487" y="3520440"/>
            <a:ext cx="365760" cy="228600"/>
          </a:xfrm>
          <a:prstGeom prst="triangl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0:label"/>
          <p:cNvSpPr txBox="1"/>
          <p:nvPr/>
        </p:nvSpPr>
        <p:spPr>
          <a:xfrm>
            <a:off x="518007" y="39319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기술과 에이전트</a:t>
            </a:r>
          </a:p>
        </p:txBody>
      </p:sp>
      <p:sp>
        <p:nvSpPr>
          <p:cNvPr id="12" name="d0:desc"/>
          <p:cNvSpPr txBox="1"/>
          <p:nvPr/>
        </p:nvSpPr>
        <p:spPr>
          <a:xfrm>
            <a:off x="518007" y="457200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능력은 빠르게 오르지만 고르지 않다 · 챗봇에서 에이전트로</a:t>
            </a:r>
          </a:p>
        </p:txBody>
      </p:sp>
      <p:sp>
        <p:nvSpPr>
          <p:cNvPr id="13" name="c1:track"/>
          <p:cNvSpPr/>
          <p:nvPr/>
        </p:nvSpPr>
        <p:spPr>
          <a:xfrm>
            <a:off x="5181447" y="1463040"/>
            <a:ext cx="1828800" cy="1828800"/>
          </a:xfrm>
          <a:prstGeom prst="donut">
            <a:avLst>
              <a:gd name="adj" fmla="val 12000"/>
            </a:avLst>
          </a:prstGeom>
          <a:solidFill>
            <a:srgbClr val="F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1:seg0"/>
          <p:cNvSpPr/>
          <p:nvPr/>
        </p:nvSpPr>
        <p:spPr>
          <a:xfrm>
            <a:off x="5181447" y="1463040"/>
            <a:ext cx="1828800" cy="1828800"/>
          </a:xfrm>
          <a:prstGeom prst="blockArc">
            <a:avLst>
              <a:gd name="adj1" fmla="val 16200000"/>
              <a:gd name="adj2" fmla="val 9000000"/>
              <a:gd name="adj3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1:num"/>
          <p:cNvSpPr txBox="1"/>
          <p:nvPr/>
        </p:nvSpPr>
        <p:spPr>
          <a:xfrm>
            <a:off x="5547207" y="2057400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200" b="1" i="0">
                <a:solidFill>
                  <a:srgbClr val="F26522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6" name="t1:tri"/>
          <p:cNvSpPr/>
          <p:nvPr/>
        </p:nvSpPr>
        <p:spPr>
          <a:xfrm rot="10800000">
            <a:off x="5912967" y="3520440"/>
            <a:ext cx="365760" cy="228600"/>
          </a:xfrm>
          <a:prstGeom prst="triangl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1:label"/>
          <p:cNvSpPr txBox="1"/>
          <p:nvPr/>
        </p:nvSpPr>
        <p:spPr>
          <a:xfrm>
            <a:off x="4358487" y="39319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투자와 에너지</a:t>
            </a:r>
          </a:p>
        </p:txBody>
      </p:sp>
      <p:sp>
        <p:nvSpPr>
          <p:cNvPr id="18" name="d1:desc"/>
          <p:cNvSpPr txBox="1"/>
          <p:nvPr/>
        </p:nvSpPr>
        <p:spPr>
          <a:xfrm>
            <a:off x="4358487" y="457200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빅테크 설비투자 급증 · 데이터센터 전력 수요 2배</a:t>
            </a:r>
          </a:p>
        </p:txBody>
      </p:sp>
      <p:sp>
        <p:nvSpPr>
          <p:cNvPr id="19" name="c2:track"/>
          <p:cNvSpPr/>
          <p:nvPr/>
        </p:nvSpPr>
        <p:spPr>
          <a:xfrm>
            <a:off x="9021927" y="1463040"/>
            <a:ext cx="1828800" cy="1828800"/>
          </a:xfrm>
          <a:prstGeom prst="donut">
            <a:avLst>
              <a:gd name="adj" fmla="val 12000"/>
            </a:avLst>
          </a:prstGeom>
          <a:solidFill>
            <a:srgbClr val="F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2:seg0"/>
          <p:cNvSpPr/>
          <p:nvPr/>
        </p:nvSpPr>
        <p:spPr>
          <a:xfrm>
            <a:off x="9021927" y="1463040"/>
            <a:ext cx="1828800" cy="1828800"/>
          </a:xfrm>
          <a:prstGeom prst="donut">
            <a:avLst>
              <a:gd name="adj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2:num"/>
          <p:cNvSpPr txBox="1"/>
          <p:nvPr/>
        </p:nvSpPr>
        <p:spPr>
          <a:xfrm>
            <a:off x="9387687" y="2057400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200" b="1" i="0">
                <a:solidFill>
                  <a:srgbClr val="F26522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22" name="t2:tri"/>
          <p:cNvSpPr/>
          <p:nvPr/>
        </p:nvSpPr>
        <p:spPr>
          <a:xfrm rot="10800000">
            <a:off x="9753447" y="3520440"/>
            <a:ext cx="365760" cy="228600"/>
          </a:xfrm>
          <a:prstGeom prst="triangl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2:label"/>
          <p:cNvSpPr txBox="1"/>
          <p:nvPr/>
        </p:nvSpPr>
        <p:spPr>
          <a:xfrm>
            <a:off x="8198967" y="39319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사회와 제도</a:t>
            </a:r>
          </a:p>
        </p:txBody>
      </p:sp>
      <p:sp>
        <p:nvSpPr>
          <p:cNvPr id="24" name="d2:desc"/>
          <p:cNvSpPr txBox="1"/>
          <p:nvPr/>
        </p:nvSpPr>
        <p:spPr>
          <a:xfrm>
            <a:off x="8198967" y="457200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신입 채용 감소 · AI 신약 임상 · 규제와 한국의 대응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_tab:tab"/>
          <p:cNvSpPr/>
          <p:nvPr/>
        </p:nvSpPr>
        <p:spPr>
          <a:xfrm>
            <a:off x="457200" y="4114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TECH</a:t>
            </a:r>
          </a:p>
        </p:txBody>
      </p:sp>
      <p:sp>
        <p:nvSpPr>
          <p:cNvPr id="3" name="hdr_title:title"/>
          <p:cNvSpPr txBox="1"/>
          <p:nvPr/>
        </p:nvSpPr>
        <p:spPr>
          <a:xfrm>
            <a:off x="1965960" y="365760"/>
            <a:ext cx="85039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600" b="1" i="1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기술 역량: 빠르지만 고르지 않다</a:t>
            </a:r>
          </a:p>
        </p:txBody>
      </p:sp>
      <p:sp>
        <p:nvSpPr>
          <p:cNvPr id="4" name="hdr_pill:pill"/>
          <p:cNvSpPr/>
          <p:nvPr/>
        </p:nvSpPr>
        <p:spPr>
          <a:xfrm>
            <a:off x="10728655" y="457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03 / 08</a:t>
            </a:r>
          </a:p>
        </p:txBody>
      </p:sp>
      <p:cxnSp>
        <p:nvCxnSpPr>
          <p:cNvPr id="5" name="hdr_line:line"/>
          <p:cNvCxnSpPr/>
          <p:nvPr/>
        </p:nvCxnSpPr>
        <p:spPr>
          <a:xfrm>
            <a:off x="1965960" y="1051560"/>
            <a:ext cx="9768535" cy="0"/>
          </a:xfrm>
          <a:prstGeom prst="line">
            <a:avLst/>
          </a:prstGeom>
          <a:ln w="9525">
            <a:solidFill>
              <a:srgbClr val="EDE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tr_line:line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0:track"/>
          <p:cNvSpPr/>
          <p:nvPr/>
        </p:nvSpPr>
        <p:spPr>
          <a:xfrm>
            <a:off x="1386687" y="1280160"/>
            <a:ext cx="1737360" cy="1737360"/>
          </a:xfrm>
          <a:prstGeom prst="donu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0:seg0"/>
          <p:cNvSpPr/>
          <p:nvPr/>
        </p:nvSpPr>
        <p:spPr>
          <a:xfrm>
            <a:off x="1386687" y="1280160"/>
            <a:ext cx="1737360" cy="1737360"/>
          </a:xfrm>
          <a:prstGeom prst="blockArc">
            <a:avLst>
              <a:gd name="adj1" fmla="val 16200000"/>
              <a:gd name="adj2" fmla="val 15767999"/>
              <a:gd name="adj3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0:num"/>
          <p:cNvSpPr txBox="1"/>
          <p:nvPr/>
        </p:nvSpPr>
        <p:spPr>
          <a:xfrm>
            <a:off x="1615287" y="1783080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100%</a:t>
            </a:r>
          </a:p>
        </p:txBody>
      </p:sp>
      <p:cxnSp>
        <p:nvCxnSpPr>
          <p:cNvPr id="10" name="k0:link"/>
          <p:cNvCxnSpPr/>
          <p:nvPr/>
        </p:nvCxnSpPr>
        <p:spPr>
          <a:xfrm>
            <a:off x="2255367" y="3200400"/>
            <a:ext cx="0" cy="228600"/>
          </a:xfrm>
          <a:prstGeom prst="line">
            <a:avLst/>
          </a:prstGeom>
          <a:ln w="952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0:label"/>
          <p:cNvSpPr txBox="1"/>
          <p:nvPr/>
        </p:nvSpPr>
        <p:spPr>
          <a:xfrm>
            <a:off x="518007" y="361188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코딩 능력 급상승</a:t>
            </a:r>
          </a:p>
        </p:txBody>
      </p:sp>
      <p:sp>
        <p:nvSpPr>
          <p:cNvPr id="12" name="d0:desc"/>
          <p:cNvSpPr txBox="1"/>
          <p:nvPr/>
        </p:nvSpPr>
        <p:spPr>
          <a:xfrm>
            <a:off x="518007" y="420624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SWE-bench 점수가 1년 만에 약 60%에서 100% 가까이로 상승</a:t>
            </a:r>
          </a:p>
        </p:txBody>
      </p:sp>
      <p:sp>
        <p:nvSpPr>
          <p:cNvPr id="13" name="r1:track"/>
          <p:cNvSpPr/>
          <p:nvPr/>
        </p:nvSpPr>
        <p:spPr>
          <a:xfrm>
            <a:off x="5227167" y="1280160"/>
            <a:ext cx="1737360" cy="1737360"/>
          </a:xfrm>
          <a:prstGeom prst="donu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:seg0"/>
          <p:cNvSpPr/>
          <p:nvPr/>
        </p:nvSpPr>
        <p:spPr>
          <a:xfrm>
            <a:off x="5227167" y="1280160"/>
            <a:ext cx="1737360" cy="1737360"/>
          </a:xfrm>
          <a:prstGeom prst="blockArc">
            <a:avLst>
              <a:gd name="adj1" fmla="val 16200000"/>
              <a:gd name="adj2" fmla="val 5421600"/>
              <a:gd name="adj3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1:num"/>
          <p:cNvSpPr txBox="1"/>
          <p:nvPr/>
        </p:nvSpPr>
        <p:spPr>
          <a:xfrm>
            <a:off x="5455767" y="1783080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50.1%</a:t>
            </a:r>
          </a:p>
        </p:txBody>
      </p:sp>
      <p:cxnSp>
        <p:nvCxnSpPr>
          <p:cNvPr id="16" name="k1:link"/>
          <p:cNvCxnSpPr/>
          <p:nvPr/>
        </p:nvCxnSpPr>
        <p:spPr>
          <a:xfrm>
            <a:off x="6095847" y="3200400"/>
            <a:ext cx="0" cy="228600"/>
          </a:xfrm>
          <a:prstGeom prst="line">
            <a:avLst/>
          </a:prstGeom>
          <a:ln w="952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1:label"/>
          <p:cNvSpPr txBox="1"/>
          <p:nvPr/>
        </p:nvSpPr>
        <p:spPr>
          <a:xfrm>
            <a:off x="4358487" y="361188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들쭉날쭉한 최전선</a:t>
            </a:r>
          </a:p>
        </p:txBody>
      </p:sp>
      <p:sp>
        <p:nvSpPr>
          <p:cNvPr id="18" name="d1:desc"/>
          <p:cNvSpPr txBox="1"/>
          <p:nvPr/>
        </p:nvSpPr>
        <p:spPr>
          <a:xfrm>
            <a:off x="4358487" y="420624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IMO 금메달 수준 모델도 아날로그 시계는 50.1%만 정확히 읽음</a:t>
            </a:r>
          </a:p>
        </p:txBody>
      </p:sp>
      <p:sp>
        <p:nvSpPr>
          <p:cNvPr id="19" name="r2:track"/>
          <p:cNvSpPr/>
          <p:nvPr/>
        </p:nvSpPr>
        <p:spPr>
          <a:xfrm>
            <a:off x="9067647" y="1280160"/>
            <a:ext cx="1737360" cy="1737360"/>
          </a:xfrm>
          <a:prstGeom prst="donu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2:seg0"/>
          <p:cNvSpPr/>
          <p:nvPr/>
        </p:nvSpPr>
        <p:spPr>
          <a:xfrm>
            <a:off x="9067647" y="1280160"/>
            <a:ext cx="1737360" cy="1737360"/>
          </a:xfrm>
          <a:prstGeom prst="donut">
            <a:avLst>
              <a:gd name="adj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2:num"/>
          <p:cNvSpPr txBox="1"/>
          <p:nvPr/>
        </p:nvSpPr>
        <p:spPr>
          <a:xfrm>
            <a:off x="9296247" y="1783080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40×</a:t>
            </a:r>
          </a:p>
        </p:txBody>
      </p:sp>
      <p:cxnSp>
        <p:nvCxnSpPr>
          <p:cNvPr id="22" name="k2:link"/>
          <p:cNvCxnSpPr/>
          <p:nvPr/>
        </p:nvCxnSpPr>
        <p:spPr>
          <a:xfrm>
            <a:off x="9936327" y="3200400"/>
            <a:ext cx="0" cy="228600"/>
          </a:xfrm>
          <a:prstGeom prst="line">
            <a:avLst/>
          </a:prstGeom>
          <a:ln w="952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2:label"/>
          <p:cNvSpPr txBox="1"/>
          <p:nvPr/>
        </p:nvSpPr>
        <p:spPr>
          <a:xfrm>
            <a:off x="8198967" y="361188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지능 비용 급락</a:t>
            </a:r>
          </a:p>
        </p:txBody>
      </p:sp>
      <p:sp>
        <p:nvSpPr>
          <p:cNvPr id="24" name="d2:desc"/>
          <p:cNvSpPr txBox="1"/>
          <p:nvPr/>
        </p:nvSpPr>
        <p:spPr>
          <a:xfrm>
            <a:off x="8198967" y="420624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박사급 과학 문제의 GPT-4 수준 성능 비용이 연 약 40배 하락</a:t>
            </a:r>
          </a:p>
        </p:txBody>
      </p:sp>
      <p:sp>
        <p:nvSpPr>
          <p:cNvPr id="25" name="note:box"/>
          <p:cNvSpPr/>
          <p:nvPr/>
        </p:nvSpPr>
        <p:spPr>
          <a:xfrm>
            <a:off x="457200" y="5166360"/>
            <a:ext cx="11277295" cy="548640"/>
          </a:xfrm>
          <a:prstGeom prst="roundRect">
            <a:avLst>
              <a:gd name="adj" fmla="val 2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ote:tag"/>
          <p:cNvSpPr/>
          <p:nvPr/>
        </p:nvSpPr>
        <p:spPr>
          <a:xfrm>
            <a:off x="640080" y="52578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CHECK</a:t>
            </a:r>
          </a:p>
        </p:txBody>
      </p:sp>
      <p:sp>
        <p:nvSpPr>
          <p:cNvPr id="27" name="note:text"/>
          <p:cNvSpPr txBox="1"/>
          <p:nvPr/>
        </p:nvSpPr>
        <p:spPr>
          <a:xfrm>
            <a:off x="1828800" y="5212080"/>
            <a:ext cx="969264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미·중 최상위 모델의 성능 격차는 사실상 해소, 2025년 초 이후 선두가 여러 차례 바뀜</a:t>
            </a:r>
          </a:p>
        </p:txBody>
      </p:sp>
      <p:sp>
        <p:nvSpPr>
          <p:cNvPr id="28" name="caption:src"/>
          <p:cNvSpPr txBox="1"/>
          <p:nvPr/>
        </p:nvSpPr>
        <p:spPr>
          <a:xfrm>
            <a:off x="457200" y="5897880"/>
            <a:ext cx="11277295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Malgun Gothic"/>
                <a:ea typeface="Malgun Gothic"/>
                <a:cs typeface="Malgun Gothic"/>
              </a:rPr>
              <a:t>※ 2차 요약 자료(Stanford AI Index 2026, Epoch AI) 기반 수치로 추정치임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_tab:tab"/>
          <p:cNvSpPr/>
          <p:nvPr/>
        </p:nvSpPr>
        <p:spPr>
          <a:xfrm>
            <a:off x="457200" y="4114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AGENTS</a:t>
            </a:r>
          </a:p>
        </p:txBody>
      </p:sp>
      <p:sp>
        <p:nvSpPr>
          <p:cNvPr id="3" name="hdr_title:title"/>
          <p:cNvSpPr txBox="1"/>
          <p:nvPr/>
        </p:nvSpPr>
        <p:spPr>
          <a:xfrm>
            <a:off x="1965960" y="365760"/>
            <a:ext cx="85039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600" b="1" i="1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챗봇에서 에이전트로</a:t>
            </a:r>
          </a:p>
        </p:txBody>
      </p:sp>
      <p:sp>
        <p:nvSpPr>
          <p:cNvPr id="4" name="hdr_pill:pill"/>
          <p:cNvSpPr/>
          <p:nvPr/>
        </p:nvSpPr>
        <p:spPr>
          <a:xfrm>
            <a:off x="10728655" y="457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04 / 08</a:t>
            </a:r>
          </a:p>
        </p:txBody>
      </p:sp>
      <p:cxnSp>
        <p:nvCxnSpPr>
          <p:cNvPr id="5" name="hdr_line:line"/>
          <p:cNvCxnSpPr/>
          <p:nvPr/>
        </p:nvCxnSpPr>
        <p:spPr>
          <a:xfrm>
            <a:off x="1965960" y="1051560"/>
            <a:ext cx="9768535" cy="0"/>
          </a:xfrm>
          <a:prstGeom prst="line">
            <a:avLst/>
          </a:prstGeom>
          <a:ln w="9525">
            <a:solidFill>
              <a:srgbClr val="EDE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tr_line:line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rd:bg"/>
          <p:cNvSpPr/>
          <p:nvPr/>
        </p:nvSpPr>
        <p:spPr>
          <a:xfrm>
            <a:off x="457200" y="1325880"/>
            <a:ext cx="3017520" cy="4343400"/>
          </a:xfrm>
          <a:prstGeom prst="roundRect">
            <a:avLst>
              <a:gd name="adj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:label"/>
          <p:cNvSpPr txBox="1"/>
          <p:nvPr/>
        </p:nvSpPr>
        <p:spPr>
          <a:xfrm>
            <a:off x="685800" y="1600200"/>
            <a:ext cx="2560320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KEY FIGURE</a:t>
            </a:r>
          </a:p>
        </p:txBody>
      </p:sp>
      <p:sp>
        <p:nvSpPr>
          <p:cNvPr id="9" name="card:num"/>
          <p:cNvSpPr txBox="1"/>
          <p:nvPr/>
        </p:nvSpPr>
        <p:spPr>
          <a:xfrm>
            <a:off x="685800" y="2057400"/>
            <a:ext cx="2560320" cy="7315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51%</a:t>
            </a:r>
          </a:p>
        </p:txBody>
      </p:sp>
      <p:sp>
        <p:nvSpPr>
          <p:cNvPr id="10" name="card:text"/>
          <p:cNvSpPr txBox="1"/>
          <p:nvPr/>
        </p:nvSpPr>
        <p:spPr>
          <a:xfrm>
            <a:off x="685800" y="2971800"/>
            <a:ext cx="2560320" cy="6858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에이전트를 실제 운영 중인 기업 비율</a:t>
            </a:r>
          </a:p>
        </p:txBody>
      </p:sp>
      <p:sp>
        <p:nvSpPr>
          <p:cNvPr id="11" name="card:sub"/>
          <p:cNvSpPr txBox="1"/>
          <p:nvPr/>
        </p:nvSpPr>
        <p:spPr>
          <a:xfrm>
            <a:off x="685800" y="384048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추가 23%는 확대 중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62%는 최소 실험 단계</a:t>
            </a:r>
          </a:p>
        </p:txBody>
      </p:sp>
      <p:sp>
        <p:nvSpPr>
          <p:cNvPr id="12" name="il0:label"/>
          <p:cNvSpPr txBox="1"/>
          <p:nvPr/>
        </p:nvSpPr>
        <p:spPr>
          <a:xfrm>
            <a:off x="3840480" y="137160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시장 규모</a:t>
            </a:r>
          </a:p>
        </p:txBody>
      </p:sp>
      <p:sp>
        <p:nvSpPr>
          <p:cNvPr id="13" name="it0:text"/>
          <p:cNvSpPr txBox="1"/>
          <p:nvPr/>
        </p:nvSpPr>
        <p:spPr>
          <a:xfrm>
            <a:off x="3840480" y="1920240"/>
            <a:ext cx="4023360" cy="6858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2026년 109억 달러 → 2030년 503억 달러 (연평균 약 46%)</a:t>
            </a:r>
          </a:p>
        </p:txBody>
      </p:sp>
      <p:sp>
        <p:nvSpPr>
          <p:cNvPr id="14" name="ic0:icon"/>
          <p:cNvSpPr/>
          <p:nvPr/>
        </p:nvSpPr>
        <p:spPr>
          <a:xfrm>
            <a:off x="8046720" y="1691640"/>
            <a:ext cx="548640" cy="5486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1</a:t>
            </a:r>
          </a:p>
        </p:txBody>
      </p:sp>
      <p:sp>
        <p:nvSpPr>
          <p:cNvPr id="15" name="il1:label"/>
          <p:cNvSpPr txBox="1"/>
          <p:nvPr/>
        </p:nvSpPr>
        <p:spPr>
          <a:xfrm>
            <a:off x="3840480" y="278892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확산 전망</a:t>
            </a:r>
          </a:p>
        </p:txBody>
      </p:sp>
      <p:sp>
        <p:nvSpPr>
          <p:cNvPr id="16" name="it1:text"/>
          <p:cNvSpPr txBox="1"/>
          <p:nvPr/>
        </p:nvSpPr>
        <p:spPr>
          <a:xfrm>
            <a:off x="3840480" y="3337560"/>
            <a:ext cx="4023360" cy="6858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2026년 말 기업용 앱의 40%가 업무별 에이전트 탑재 (2025년 5% 미만)</a:t>
            </a:r>
          </a:p>
        </p:txBody>
      </p:sp>
      <p:sp>
        <p:nvSpPr>
          <p:cNvPr id="17" name="ic1:icon"/>
          <p:cNvSpPr/>
          <p:nvPr/>
        </p:nvSpPr>
        <p:spPr>
          <a:xfrm>
            <a:off x="8046720" y="3108960"/>
            <a:ext cx="548640" cy="5486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  <p:sp>
        <p:nvSpPr>
          <p:cNvPr id="18" name="il2:label"/>
          <p:cNvSpPr txBox="1"/>
          <p:nvPr/>
        </p:nvSpPr>
        <p:spPr>
          <a:xfrm>
            <a:off x="3840480" y="420624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리스크</a:t>
            </a:r>
          </a:p>
        </p:txBody>
      </p:sp>
      <p:sp>
        <p:nvSpPr>
          <p:cNvPr id="19" name="it2:text"/>
          <p:cNvSpPr txBox="1"/>
          <p:nvPr/>
        </p:nvSpPr>
        <p:spPr>
          <a:xfrm>
            <a:off x="3840480" y="4754879"/>
            <a:ext cx="4023360" cy="6858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2027년 말까지 40% 이상 프로젝트 중단 전망 · 보안 정책 보유 44%뿐</a:t>
            </a:r>
          </a:p>
        </p:txBody>
      </p:sp>
      <p:sp>
        <p:nvSpPr>
          <p:cNvPr id="20" name="ic2:icon"/>
          <p:cNvSpPr/>
          <p:nvPr/>
        </p:nvSpPr>
        <p:spPr>
          <a:xfrm>
            <a:off x="8046720" y="4526279"/>
            <a:ext cx="548640" cy="5486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  <p:sp>
        <p:nvSpPr>
          <p:cNvPr id="21" name="big:circle"/>
          <p:cNvSpPr/>
          <p:nvPr/>
        </p:nvSpPr>
        <p:spPr>
          <a:xfrm>
            <a:off x="8778240" y="2011680"/>
            <a:ext cx="2926080" cy="2926080"/>
          </a:xfrm>
          <a:prstGeom prst="ellipse">
            <a:avLst/>
          </a:prstGeom>
          <a:solidFill>
            <a:srgbClr val="F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ig:text"/>
          <p:cNvSpPr txBox="1"/>
          <p:nvPr/>
        </p:nvSpPr>
        <p:spPr>
          <a:xfrm>
            <a:off x="9144000" y="2743200"/>
            <a:ext cx="2194560" cy="146304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26522"/>
                </a:solidFill>
                <a:latin typeface="Arial"/>
                <a:ea typeface="Malgun Gothic"/>
                <a:cs typeface="Arial"/>
              </a:rPr>
              <a:t>CHATBOT → AGENT</a:t>
            </a:r>
          </a:p>
          <a:p>
            <a:pPr algn="ctr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질문에 답하는 AI에서 여러 단계 업무를 계획·실행하는 AI로</a:t>
            </a:r>
          </a:p>
        </p:txBody>
      </p:sp>
      <p:sp>
        <p:nvSpPr>
          <p:cNvPr id="23" name="caption:src"/>
          <p:cNvSpPr txBox="1"/>
          <p:nvPr/>
        </p:nvSpPr>
        <p:spPr>
          <a:xfrm>
            <a:off x="457200" y="5897880"/>
            <a:ext cx="11277295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Malgun Gothic"/>
                <a:ea typeface="Malgun Gothic"/>
                <a:cs typeface="Malgun Gothic"/>
              </a:rPr>
              <a:t>※ 시장·도입 수치는 2차 자료(G2, CMARIX, Ringly) 기반 추정치임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_tab:tab"/>
          <p:cNvSpPr/>
          <p:nvPr/>
        </p:nvSpPr>
        <p:spPr>
          <a:xfrm>
            <a:off x="457200" y="4114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INVEST</a:t>
            </a:r>
          </a:p>
        </p:txBody>
      </p:sp>
      <p:sp>
        <p:nvSpPr>
          <p:cNvPr id="3" name="hdr_title:title"/>
          <p:cNvSpPr txBox="1"/>
          <p:nvPr/>
        </p:nvSpPr>
        <p:spPr>
          <a:xfrm>
            <a:off x="1965960" y="365760"/>
            <a:ext cx="85039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600" b="1" i="1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투자와 에너지, 새로운 병목</a:t>
            </a:r>
          </a:p>
        </p:txBody>
      </p:sp>
      <p:sp>
        <p:nvSpPr>
          <p:cNvPr id="4" name="hdr_pill:pill"/>
          <p:cNvSpPr/>
          <p:nvPr/>
        </p:nvSpPr>
        <p:spPr>
          <a:xfrm>
            <a:off x="10728655" y="457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05 / 08</a:t>
            </a:r>
          </a:p>
        </p:txBody>
      </p:sp>
      <p:cxnSp>
        <p:nvCxnSpPr>
          <p:cNvPr id="5" name="hdr_line:line"/>
          <p:cNvCxnSpPr/>
          <p:nvPr/>
        </p:nvCxnSpPr>
        <p:spPr>
          <a:xfrm>
            <a:off x="1965960" y="1051560"/>
            <a:ext cx="9768535" cy="0"/>
          </a:xfrm>
          <a:prstGeom prst="line">
            <a:avLst/>
          </a:prstGeom>
          <a:ln w="9525">
            <a:solidFill>
              <a:srgbClr val="EDE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tr_line:line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gl0:label"/>
          <p:cNvSpPr txBox="1"/>
          <p:nvPr/>
        </p:nvSpPr>
        <p:spPr>
          <a:xfrm>
            <a:off x="457200" y="1325880"/>
            <a:ext cx="2377440" cy="13258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빅테크 4사 설비투자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2026년 전년 대비 +77%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2027년 1조 달러 전망</a:t>
            </a:r>
          </a:p>
        </p:txBody>
      </p:sp>
      <p:cxnSp>
        <p:nvCxnSpPr>
          <p:cNvPr id="8" name="gb0:bracket"/>
          <p:cNvCxnSpPr/>
          <p:nvPr/>
        </p:nvCxnSpPr>
        <p:spPr>
          <a:xfrm>
            <a:off x="3017520" y="1371600"/>
            <a:ext cx="0" cy="1234439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l00:label"/>
          <p:cNvSpPr txBox="1"/>
          <p:nvPr/>
        </p:nvSpPr>
        <p:spPr>
          <a:xfrm>
            <a:off x="3291840" y="1463039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2025년 실적</a:t>
            </a:r>
          </a:p>
        </p:txBody>
      </p:sp>
      <p:sp>
        <p:nvSpPr>
          <p:cNvPr id="10" name="rb00:bar"/>
          <p:cNvSpPr/>
          <p:nvPr/>
        </p:nvSpPr>
        <p:spPr>
          <a:xfrm>
            <a:off x="5669280" y="1508760"/>
            <a:ext cx="2585544" cy="32004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v00:value"/>
          <p:cNvSpPr txBox="1"/>
          <p:nvPr/>
        </p:nvSpPr>
        <p:spPr>
          <a:xfrm>
            <a:off x="10424160" y="1463039"/>
            <a:ext cx="1307592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/>
            <a:r>
              <a:rPr sz="20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$410B</a:t>
            </a:r>
          </a:p>
        </p:txBody>
      </p:sp>
      <p:sp>
        <p:nvSpPr>
          <p:cNvPr id="12" name="rl01:label"/>
          <p:cNvSpPr txBox="1"/>
          <p:nvPr/>
        </p:nvSpPr>
        <p:spPr>
          <a:xfrm>
            <a:off x="3291840" y="210312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2026년 계획</a:t>
            </a:r>
          </a:p>
        </p:txBody>
      </p:sp>
      <p:sp>
        <p:nvSpPr>
          <p:cNvPr id="13" name="rb01:bar"/>
          <p:cNvSpPr/>
          <p:nvPr/>
        </p:nvSpPr>
        <p:spPr>
          <a:xfrm>
            <a:off x="5669280" y="2148839"/>
            <a:ext cx="4572000" cy="320040"/>
          </a:xfrm>
          <a:prstGeom prst="roundRect">
            <a:avLst>
              <a:gd name="adj" fmla="val 50000"/>
            </a:avLst>
          </a:prstGeom>
          <a:solidFill>
            <a:srgbClr val="E8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v01:value"/>
          <p:cNvSpPr txBox="1"/>
          <p:nvPr/>
        </p:nvSpPr>
        <p:spPr>
          <a:xfrm>
            <a:off x="10424160" y="2103120"/>
            <a:ext cx="1307592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/>
            <a:r>
              <a:rPr sz="20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$725B</a:t>
            </a:r>
          </a:p>
        </p:txBody>
      </p:sp>
      <p:sp>
        <p:nvSpPr>
          <p:cNvPr id="15" name="gl1:label"/>
          <p:cNvSpPr txBox="1"/>
          <p:nvPr/>
        </p:nvSpPr>
        <p:spPr>
          <a:xfrm>
            <a:off x="457200" y="3840480"/>
            <a:ext cx="2377440" cy="13258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데이터센터 전력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2025년 수요 증가율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전 세계 평균의 5배 이상</a:t>
            </a:r>
          </a:p>
        </p:txBody>
      </p:sp>
      <p:cxnSp>
        <p:nvCxnSpPr>
          <p:cNvPr id="16" name="gb1:bracket"/>
          <p:cNvCxnSpPr/>
          <p:nvPr/>
        </p:nvCxnSpPr>
        <p:spPr>
          <a:xfrm>
            <a:off x="3017520" y="3886200"/>
            <a:ext cx="0" cy="123444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l10:label"/>
          <p:cNvSpPr txBox="1"/>
          <p:nvPr/>
        </p:nvSpPr>
        <p:spPr>
          <a:xfrm>
            <a:off x="3291840" y="397764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데이터센터</a:t>
            </a:r>
          </a:p>
        </p:txBody>
      </p:sp>
      <p:sp>
        <p:nvSpPr>
          <p:cNvPr id="18" name="rb10:bar"/>
          <p:cNvSpPr/>
          <p:nvPr/>
        </p:nvSpPr>
        <p:spPr>
          <a:xfrm>
            <a:off x="5669280" y="4023360"/>
            <a:ext cx="4572000" cy="32004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v10:value"/>
          <p:cNvSpPr txBox="1"/>
          <p:nvPr/>
        </p:nvSpPr>
        <p:spPr>
          <a:xfrm>
            <a:off x="10424160" y="3977640"/>
            <a:ext cx="1307592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/>
            <a:r>
              <a:rPr sz="20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+17%</a:t>
            </a:r>
          </a:p>
        </p:txBody>
      </p:sp>
      <p:sp>
        <p:nvSpPr>
          <p:cNvPr id="20" name="rl11:label"/>
          <p:cNvSpPr txBox="1"/>
          <p:nvPr/>
        </p:nvSpPr>
        <p:spPr>
          <a:xfrm>
            <a:off x="3291840" y="461772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전 세계 전체</a:t>
            </a:r>
          </a:p>
        </p:txBody>
      </p:sp>
      <p:sp>
        <p:nvSpPr>
          <p:cNvPr id="21" name="rb11:bar"/>
          <p:cNvSpPr/>
          <p:nvPr/>
        </p:nvSpPr>
        <p:spPr>
          <a:xfrm>
            <a:off x="5669280" y="4663440"/>
            <a:ext cx="806823" cy="320040"/>
          </a:xfrm>
          <a:prstGeom prst="roundRect">
            <a:avLst>
              <a:gd name="adj" fmla="val 50000"/>
            </a:avLst>
          </a:prstGeom>
          <a:solidFill>
            <a:srgbClr val="E8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v11:value"/>
          <p:cNvSpPr txBox="1"/>
          <p:nvPr/>
        </p:nvSpPr>
        <p:spPr>
          <a:xfrm>
            <a:off x="10424160" y="4617720"/>
            <a:ext cx="1307592" cy="411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/>
            <a:r>
              <a:rPr sz="20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+3%</a:t>
            </a:r>
          </a:p>
        </p:txBody>
      </p:sp>
      <p:sp>
        <p:nvSpPr>
          <p:cNvPr id="23" name="chk:circle"/>
          <p:cNvSpPr/>
          <p:nvPr/>
        </p:nvSpPr>
        <p:spPr>
          <a:xfrm>
            <a:off x="457200" y="2880360"/>
            <a:ext cx="777240" cy="777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CHECK</a:t>
            </a:r>
          </a:p>
        </p:txBody>
      </p:sp>
      <p:sp>
        <p:nvSpPr>
          <p:cNvPr id="24" name="chkt:text"/>
          <p:cNvSpPr txBox="1"/>
          <p:nvPr/>
        </p:nvSpPr>
        <p:spPr>
          <a:xfrm>
            <a:off x="1463040" y="2971800"/>
            <a:ext cx="10271455" cy="594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데이터센터 전력 수요는 2030년 약 945 TWh로 2배 이상 증가 전망 (일본의 현재 소비량 초과)</a:t>
            </a:r>
          </a:p>
        </p:txBody>
      </p:sp>
      <p:sp>
        <p:nvSpPr>
          <p:cNvPr id="25" name="caption:src"/>
          <p:cNvSpPr txBox="1"/>
          <p:nvPr/>
        </p:nvSpPr>
        <p:spPr>
          <a:xfrm>
            <a:off x="457200" y="5897880"/>
            <a:ext cx="11277295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Malgun Gothic"/>
                <a:ea typeface="Malgun Gothic"/>
                <a:cs typeface="Malgun Gothic"/>
              </a:rPr>
              <a:t>※ 설비투자는 실적 발표의 2차 요약 기반 추정치 · 전력 수치는 IEA 전망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_tab:tab"/>
          <p:cNvSpPr/>
          <p:nvPr/>
        </p:nvSpPr>
        <p:spPr>
          <a:xfrm>
            <a:off x="457200" y="4114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SOCIETY</a:t>
            </a:r>
          </a:p>
        </p:txBody>
      </p:sp>
      <p:sp>
        <p:nvSpPr>
          <p:cNvPr id="3" name="hdr_title:title"/>
          <p:cNvSpPr txBox="1"/>
          <p:nvPr/>
        </p:nvSpPr>
        <p:spPr>
          <a:xfrm>
            <a:off x="1965960" y="365760"/>
            <a:ext cx="85039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600" b="1" i="1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노동·과학·안전: 사회로 번지는 영향</a:t>
            </a:r>
          </a:p>
        </p:txBody>
      </p:sp>
      <p:sp>
        <p:nvSpPr>
          <p:cNvPr id="4" name="hdr_pill:pill"/>
          <p:cNvSpPr/>
          <p:nvPr/>
        </p:nvSpPr>
        <p:spPr>
          <a:xfrm>
            <a:off x="10728655" y="457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06 / 08</a:t>
            </a:r>
          </a:p>
        </p:txBody>
      </p:sp>
      <p:cxnSp>
        <p:nvCxnSpPr>
          <p:cNvPr id="5" name="hdr_line:line"/>
          <p:cNvCxnSpPr/>
          <p:nvPr/>
        </p:nvCxnSpPr>
        <p:spPr>
          <a:xfrm>
            <a:off x="1965960" y="1051560"/>
            <a:ext cx="9768535" cy="0"/>
          </a:xfrm>
          <a:prstGeom prst="line">
            <a:avLst/>
          </a:prstGeom>
          <a:ln w="9525">
            <a:solidFill>
              <a:srgbClr val="EDE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tr_line:line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0:badge"/>
          <p:cNvSpPr/>
          <p:nvPr/>
        </p:nvSpPr>
        <p:spPr>
          <a:xfrm>
            <a:off x="2003907" y="128016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8" name="d0:track"/>
          <p:cNvSpPr/>
          <p:nvPr/>
        </p:nvSpPr>
        <p:spPr>
          <a:xfrm>
            <a:off x="1340967" y="1965960"/>
            <a:ext cx="1828800" cy="1828800"/>
          </a:xfrm>
          <a:prstGeom prst="donut">
            <a:avLst>
              <a:gd name="adj" fmla="val 13000"/>
            </a:avLst>
          </a:prstGeom>
          <a:solidFill>
            <a:srgbClr val="F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0:seg0"/>
          <p:cNvSpPr/>
          <p:nvPr/>
        </p:nvSpPr>
        <p:spPr>
          <a:xfrm>
            <a:off x="1340967" y="1965960"/>
            <a:ext cx="1828800" cy="1828800"/>
          </a:xfrm>
          <a:prstGeom prst="blockArc">
            <a:avLst>
              <a:gd name="adj1" fmla="val 16200000"/>
              <a:gd name="adj2" fmla="val 20304000"/>
              <a:gd name="adj3" fmla="val 13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0:num"/>
          <p:cNvSpPr txBox="1"/>
          <p:nvPr/>
        </p:nvSpPr>
        <p:spPr>
          <a:xfrm>
            <a:off x="1661007" y="251460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−19%</a:t>
            </a:r>
          </a:p>
        </p:txBody>
      </p:sp>
      <p:sp>
        <p:nvSpPr>
          <p:cNvPr id="11" name="l0:label"/>
          <p:cNvSpPr txBox="1"/>
          <p:nvPr/>
        </p:nvSpPr>
        <p:spPr>
          <a:xfrm>
            <a:off x="518007" y="3977639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노동: 신입 채용부터</a:t>
            </a:r>
          </a:p>
        </p:txBody>
      </p:sp>
      <p:sp>
        <p:nvSpPr>
          <p:cNvPr id="12" name="t0:desc"/>
          <p:cNvSpPr txBox="1"/>
          <p:nvPr/>
        </p:nvSpPr>
        <p:spPr>
          <a:xfrm>
            <a:off x="518007" y="4572000"/>
            <a:ext cx="347472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AI 노출이 큰 직종의 22–25세 고용, 덜 노출된 또래보다 19% 낮음 · 기업 21%가 신입 채용 동결</a:t>
            </a:r>
          </a:p>
        </p:txBody>
      </p:sp>
      <p:sp>
        <p:nvSpPr>
          <p:cNvPr id="13" name="b1:badge"/>
          <p:cNvSpPr/>
          <p:nvPr/>
        </p:nvSpPr>
        <p:spPr>
          <a:xfrm>
            <a:off x="5844387" y="128016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4" name="d1:track"/>
          <p:cNvSpPr/>
          <p:nvPr/>
        </p:nvSpPr>
        <p:spPr>
          <a:xfrm>
            <a:off x="5181447" y="1965960"/>
            <a:ext cx="1828800" cy="1828800"/>
          </a:xfrm>
          <a:prstGeom prst="donut">
            <a:avLst>
              <a:gd name="adj" fmla="val 13000"/>
            </a:avLst>
          </a:prstGeom>
          <a:solidFill>
            <a:srgbClr val="F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1:seg0"/>
          <p:cNvSpPr/>
          <p:nvPr/>
        </p:nvSpPr>
        <p:spPr>
          <a:xfrm>
            <a:off x="5181447" y="1965960"/>
            <a:ext cx="1828800" cy="1828800"/>
          </a:xfrm>
          <a:prstGeom prst="blockArc">
            <a:avLst>
              <a:gd name="adj1" fmla="val 16200000"/>
              <a:gd name="adj2" fmla="val 17668800"/>
              <a:gd name="adj3" fmla="val 13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1:seg1"/>
          <p:cNvSpPr/>
          <p:nvPr/>
        </p:nvSpPr>
        <p:spPr>
          <a:xfrm>
            <a:off x="5181447" y="1965960"/>
            <a:ext cx="1828800" cy="1828800"/>
          </a:xfrm>
          <a:prstGeom prst="blockArc">
            <a:avLst>
              <a:gd name="adj1" fmla="val 17668800"/>
              <a:gd name="adj2" fmla="val 5680800"/>
              <a:gd name="adj3" fmla="val 13000"/>
            </a:avLst>
          </a:prstGeom>
          <a:solidFill>
            <a:srgbClr val="F7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1:num"/>
          <p:cNvSpPr txBox="1"/>
          <p:nvPr/>
        </p:nvSpPr>
        <p:spPr>
          <a:xfrm>
            <a:off x="5501487" y="251460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117</a:t>
            </a:r>
          </a:p>
        </p:txBody>
      </p:sp>
      <p:sp>
        <p:nvSpPr>
          <p:cNvPr id="18" name="l1:label"/>
          <p:cNvSpPr txBox="1"/>
          <p:nvPr/>
        </p:nvSpPr>
        <p:spPr>
          <a:xfrm>
            <a:off x="4358487" y="3977639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의료: 임상 후기 진입</a:t>
            </a:r>
          </a:p>
        </p:txBody>
      </p:sp>
      <p:sp>
        <p:nvSpPr>
          <p:cNvPr id="19" name="t1:desc"/>
          <p:cNvSpPr txBox="1"/>
          <p:nvPr/>
        </p:nvSpPr>
        <p:spPr>
          <a:xfrm>
            <a:off x="4358487" y="4572000"/>
            <a:ext cx="347472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AI 신약 후보 117건 임상 진입 · 1상 완료 51.3%, 2상 완료 6.8% · FDA 승인 신약은 아직 없음</a:t>
            </a:r>
          </a:p>
        </p:txBody>
      </p:sp>
      <p:sp>
        <p:nvSpPr>
          <p:cNvPr id="20" name="b2:badge"/>
          <p:cNvSpPr/>
          <p:nvPr/>
        </p:nvSpPr>
        <p:spPr>
          <a:xfrm>
            <a:off x="9684867" y="128016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21" name="d2:track"/>
          <p:cNvSpPr/>
          <p:nvPr/>
        </p:nvSpPr>
        <p:spPr>
          <a:xfrm>
            <a:off x="9021927" y="1965960"/>
            <a:ext cx="1828800" cy="1828800"/>
          </a:xfrm>
          <a:prstGeom prst="donut">
            <a:avLst>
              <a:gd name="adj" fmla="val 13000"/>
            </a:avLst>
          </a:prstGeom>
          <a:solidFill>
            <a:srgbClr val="F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2:seg0"/>
          <p:cNvSpPr/>
          <p:nvPr/>
        </p:nvSpPr>
        <p:spPr>
          <a:xfrm>
            <a:off x="9021927" y="1965960"/>
            <a:ext cx="1828800" cy="1828800"/>
          </a:xfrm>
          <a:prstGeom prst="blockArc">
            <a:avLst>
              <a:gd name="adj1" fmla="val 16200000"/>
              <a:gd name="adj2" fmla="val 8502762"/>
              <a:gd name="adj3" fmla="val 13000"/>
            </a:avLst>
          </a:prstGeom>
          <a:solidFill>
            <a:srgbClr val="F7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2:seg1"/>
          <p:cNvSpPr/>
          <p:nvPr/>
        </p:nvSpPr>
        <p:spPr>
          <a:xfrm>
            <a:off x="9021927" y="1965960"/>
            <a:ext cx="1828800" cy="1828800"/>
          </a:xfrm>
          <a:prstGeom prst="blockArc">
            <a:avLst>
              <a:gd name="adj1" fmla="val 8502762"/>
              <a:gd name="adj2" fmla="val 16200000"/>
              <a:gd name="adj3" fmla="val 13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2:num"/>
          <p:cNvSpPr txBox="1"/>
          <p:nvPr/>
        </p:nvSpPr>
        <p:spPr>
          <a:xfrm>
            <a:off x="9341967" y="251460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362</a:t>
            </a:r>
          </a:p>
        </p:txBody>
      </p:sp>
      <p:sp>
        <p:nvSpPr>
          <p:cNvPr id="25" name="l2:label"/>
          <p:cNvSpPr txBox="1"/>
          <p:nvPr/>
        </p:nvSpPr>
        <p:spPr>
          <a:xfrm>
            <a:off x="8198967" y="3977639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안전: 사고 증가와 규제</a:t>
            </a:r>
          </a:p>
        </p:txBody>
      </p:sp>
      <p:sp>
        <p:nvSpPr>
          <p:cNvPr id="26" name="t2:desc"/>
          <p:cNvSpPr txBox="1"/>
          <p:nvPr/>
        </p:nvSpPr>
        <p:spPr>
          <a:xfrm>
            <a:off x="8198967" y="4572000"/>
            <a:ext cx="347472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AI 사고 233건 → 362건 · EU AI Act 고위험 의무는 2027년 12월로 연기</a:t>
            </a:r>
          </a:p>
        </p:txBody>
      </p:sp>
      <p:sp>
        <p:nvSpPr>
          <p:cNvPr id="27" name="caption:src"/>
          <p:cNvSpPr txBox="1"/>
          <p:nvPr/>
        </p:nvSpPr>
        <p:spPr>
          <a:xfrm>
            <a:off x="457200" y="5897880"/>
            <a:ext cx="11277295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Malgun Gothic"/>
                <a:ea typeface="Malgun Gothic"/>
                <a:cs typeface="Malgun Gothic"/>
              </a:rPr>
              <a:t>※ 2차 요약 자료(Stanford·ADP, ASCO 2026, AI Index 2026, Sidley) 기반 추정치임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_tab:tab"/>
          <p:cNvSpPr/>
          <p:nvPr/>
        </p:nvSpPr>
        <p:spPr>
          <a:xfrm>
            <a:off x="457200" y="4114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KOREA</a:t>
            </a:r>
          </a:p>
        </p:txBody>
      </p:sp>
      <p:sp>
        <p:nvSpPr>
          <p:cNvPr id="3" name="hdr_title:title"/>
          <p:cNvSpPr txBox="1"/>
          <p:nvPr/>
        </p:nvSpPr>
        <p:spPr>
          <a:xfrm>
            <a:off x="1965960" y="365760"/>
            <a:ext cx="85039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600" b="1" i="1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한국: 기본법과 대규모 공공투자</a:t>
            </a:r>
          </a:p>
        </p:txBody>
      </p:sp>
      <p:sp>
        <p:nvSpPr>
          <p:cNvPr id="4" name="hdr_pill:pill"/>
          <p:cNvSpPr/>
          <p:nvPr/>
        </p:nvSpPr>
        <p:spPr>
          <a:xfrm>
            <a:off x="10728655" y="457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07 / 08</a:t>
            </a:r>
          </a:p>
        </p:txBody>
      </p:sp>
      <p:cxnSp>
        <p:nvCxnSpPr>
          <p:cNvPr id="5" name="hdr_line:line"/>
          <p:cNvCxnSpPr/>
          <p:nvPr/>
        </p:nvCxnSpPr>
        <p:spPr>
          <a:xfrm>
            <a:off x="1965960" y="1051560"/>
            <a:ext cx="9768535" cy="0"/>
          </a:xfrm>
          <a:prstGeom prst="line">
            <a:avLst/>
          </a:prstGeom>
          <a:ln w="9525">
            <a:solidFill>
              <a:srgbClr val="EDE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tr_line:line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:table"/>
          <p:cNvGraphicFramePr>
            <a:graphicFrameLocks noGrp="1"/>
          </p:cNvGraphicFramePr>
          <p:nvPr/>
        </p:nvGraphicFramePr>
        <p:xfrm>
          <a:off x="457200" y="1325880"/>
          <a:ext cx="11277295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6705295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시점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기본법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265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고영향 AI 위험관리와 생성형 AI 결과물 표시 의무, 전면 시행된 첫 포괄적 AI 법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265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 시행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2652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 확보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4444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 26만 장을 단계적으로 확보 (NVIDIA 협력 포함)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4444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2025.12 계획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범용 AI 프로젝트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4444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1조 원 투입, 세계 10위권 소버린 AI 모델 개발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4444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2025.12 계획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프런티어 모델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4444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초과 세수 약 5조 원, Vera Rubin GPU 약 1만 장을 선도 1팀에 집중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4444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2026.07 계획</a:t>
                      </a:r>
                    </a:p>
                  </a:txBody>
                  <a:tcPr marL="137160" marR="13716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tn:pill"/>
          <p:cNvSpPr/>
          <p:nvPr/>
        </p:nvSpPr>
        <p:spPr>
          <a:xfrm>
            <a:off x="8961120" y="5166360"/>
            <a:ext cx="2773375" cy="45720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선택과 집중 전략</a:t>
            </a:r>
          </a:p>
        </p:txBody>
      </p:sp>
      <p:sp>
        <p:nvSpPr>
          <p:cNvPr id="9" name="caption:src"/>
          <p:cNvSpPr txBox="1"/>
          <p:nvPr/>
        </p:nvSpPr>
        <p:spPr>
          <a:xfrm>
            <a:off x="457200" y="5897880"/>
            <a:ext cx="11277295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Malgun Gothic"/>
                <a:ea typeface="Malgun Gothic"/>
                <a:cs typeface="Malgun Gothic"/>
              </a:rPr>
              <a:t>※ 2차 자료(law.asia, 뉴시스, 다음, 위키독스) 기반 정리 · 계획 수치는 발표 당시 기준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p:capsule"/>
          <p:cNvSpPr/>
          <p:nvPr/>
        </p:nvSpPr>
        <p:spPr>
          <a:xfrm>
            <a:off x="457200" y="822960"/>
            <a:ext cx="4389120" cy="512064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p:text"/>
          <p:cNvSpPr txBox="1"/>
          <p:nvPr/>
        </p:nvSpPr>
        <p:spPr>
          <a:xfrm>
            <a:off x="822960" y="2103120"/>
            <a:ext cx="3657600" cy="237744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Aft>
                <a:spcPts val="600"/>
              </a:spcAft>
            </a:pPr>
            <a:r>
              <a:rPr sz="3600" b="1" i="1">
                <a:solidFill>
                  <a:srgbClr val="FFFFFF"/>
                </a:solidFill>
                <a:latin typeface="Arial Black"/>
                <a:ea typeface="Malgun Gothic"/>
                <a:cs typeface="Arial Black"/>
              </a:rPr>
              <a:t>THANK YOU</a:t>
            </a:r>
          </a:p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질문과 의견을 환영합니다</a:t>
            </a:r>
          </a:p>
        </p:txBody>
      </p:sp>
      <p:sp>
        <p:nvSpPr>
          <p:cNvPr id="4" name="kt:label"/>
          <p:cNvSpPr txBox="1"/>
          <p:nvPr/>
        </p:nvSpPr>
        <p:spPr>
          <a:xfrm>
            <a:off x="5303520" y="914400"/>
            <a:ext cx="6430975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  <a:ea typeface="Malgun Gothic"/>
                <a:cs typeface="Arial"/>
              </a:rPr>
              <a:t>KEY TAKEAWAYS</a:t>
            </a:r>
          </a:p>
        </p:txBody>
      </p:sp>
      <p:sp>
        <p:nvSpPr>
          <p:cNvPr id="5" name="kt:title"/>
          <p:cNvSpPr txBox="1"/>
          <p:nvPr/>
        </p:nvSpPr>
        <p:spPr>
          <a:xfrm>
            <a:off x="5303520" y="1463040"/>
            <a:ext cx="6430975" cy="594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2800" b="1" i="1">
                <a:solidFill>
                  <a:srgbClr val="1A1A1A"/>
                </a:solidFill>
                <a:latin typeface="Arial"/>
                <a:ea typeface="Malgun Gothic"/>
                <a:cs typeface="Arial"/>
              </a:rPr>
              <a:t>핵심 요약</a:t>
            </a:r>
          </a:p>
        </p:txBody>
      </p:sp>
      <p:sp>
        <p:nvSpPr>
          <p:cNvPr id="6" name="kn0:num"/>
          <p:cNvSpPr/>
          <p:nvPr/>
        </p:nvSpPr>
        <p:spPr>
          <a:xfrm>
            <a:off x="5303520" y="230886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1</a:t>
            </a:r>
          </a:p>
        </p:txBody>
      </p:sp>
      <p:sp>
        <p:nvSpPr>
          <p:cNvPr id="7" name="kx0:text"/>
          <p:cNvSpPr txBox="1"/>
          <p:nvPr/>
        </p:nvSpPr>
        <p:spPr>
          <a:xfrm>
            <a:off x="5943600" y="2286000"/>
            <a:ext cx="5790895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능력은 빠르게, 그러나 고르지 않게 성장</a:t>
            </a:r>
          </a:p>
        </p:txBody>
      </p:sp>
      <p:sp>
        <p:nvSpPr>
          <p:cNvPr id="8" name="kn1:num"/>
          <p:cNvSpPr/>
          <p:nvPr/>
        </p:nvSpPr>
        <p:spPr>
          <a:xfrm>
            <a:off x="5303520" y="3040379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  <p:sp>
        <p:nvSpPr>
          <p:cNvPr id="9" name="kx1:text"/>
          <p:cNvSpPr txBox="1"/>
          <p:nvPr/>
        </p:nvSpPr>
        <p:spPr>
          <a:xfrm>
            <a:off x="5943600" y="3017520"/>
            <a:ext cx="5790895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챗봇에서 에이전트로, 보안·거버넌스는 뒤처짐</a:t>
            </a:r>
          </a:p>
        </p:txBody>
      </p:sp>
      <p:sp>
        <p:nvSpPr>
          <p:cNvPr id="10" name="kn2:num"/>
          <p:cNvSpPr/>
          <p:nvPr/>
        </p:nvSpPr>
        <p:spPr>
          <a:xfrm>
            <a:off x="5303520" y="377190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  <p:sp>
        <p:nvSpPr>
          <p:cNvPr id="11" name="kx2:text"/>
          <p:cNvSpPr txBox="1"/>
          <p:nvPr/>
        </p:nvSpPr>
        <p:spPr>
          <a:xfrm>
            <a:off x="5943600" y="3749039"/>
            <a:ext cx="5790895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투자와 전력이 새로운 병목</a:t>
            </a:r>
          </a:p>
        </p:txBody>
      </p:sp>
      <p:sp>
        <p:nvSpPr>
          <p:cNvPr id="12" name="kn3:num"/>
          <p:cNvSpPr/>
          <p:nvPr/>
        </p:nvSpPr>
        <p:spPr>
          <a:xfrm>
            <a:off x="5303520" y="450342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  <p:sp>
        <p:nvSpPr>
          <p:cNvPr id="13" name="kx3:text"/>
          <p:cNvSpPr txBox="1"/>
          <p:nvPr/>
        </p:nvSpPr>
        <p:spPr>
          <a:xfrm>
            <a:off x="5943600" y="4480560"/>
            <a:ext cx="5790895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노동 영향은 신입 채용에서 먼저 나타남</a:t>
            </a:r>
          </a:p>
        </p:txBody>
      </p:sp>
      <p:sp>
        <p:nvSpPr>
          <p:cNvPr id="14" name="kn4:num"/>
          <p:cNvSpPr/>
          <p:nvPr/>
        </p:nvSpPr>
        <p:spPr>
          <a:xfrm>
            <a:off x="5303520" y="523494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5</a:t>
            </a:r>
          </a:p>
        </p:txBody>
      </p:sp>
      <p:sp>
        <p:nvSpPr>
          <p:cNvPr id="15" name="kx4:text"/>
          <p:cNvSpPr txBox="1"/>
          <p:nvPr/>
        </p:nvSpPr>
        <p:spPr>
          <a:xfrm>
            <a:off x="5943600" y="5212080"/>
            <a:ext cx="5790895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규제는 도입 중, 한국은 기본법과 공공투자</a:t>
            </a:r>
          </a:p>
        </p:txBody>
      </p:sp>
      <p:cxnSp>
        <p:nvCxnSpPr>
          <p:cNvPr id="16" name="ftr_line:line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12700">
            <a:solidFill>
              <a:srgbClr val="F26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