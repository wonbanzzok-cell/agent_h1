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371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맑은 고딕"/>
                <a:ea typeface="맑은 고딕"/>
              </a:rPr>
              <a:t>Anthropic</a:t>
            </a:r>
          </a:p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Claude를 만드는 회사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맑은 고딕"/>
                <a:ea typeface="맑은 고딕"/>
              </a:rPr>
              <a:t>안전하고 유익한 AI를 위한 연구 기업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BF1E8"/>
                </a:solidFill>
                <a:latin typeface="맑은 고딕"/>
                <a:ea typeface="맑은 고딕"/>
              </a:rPr>
              <a:t>회사 소개 발표자료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4864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33333"/>
                </a:solidFill>
                <a:latin typeface="맑은 고딕"/>
                <a:ea typeface="맑은 고딕"/>
              </a:rPr>
              <a:t>회사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7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E8742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194560" cy="758952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194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설립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463040"/>
            <a:ext cx="8321040" cy="758952"/>
          </a:xfrm>
          <a:prstGeom prst="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63040"/>
            <a:ext cx="8046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  <a:ea typeface="맑은 고딕"/>
              </a:rPr>
              <a:t>2021년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2194560" cy="758952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2194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본사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331720"/>
            <a:ext cx="8321040" cy="758952"/>
          </a:xfrm>
          <a:prstGeom prst="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331720"/>
            <a:ext cx="8046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  <a:ea typeface="맑은 고딕"/>
              </a:rPr>
              <a:t>미국 캘리포니아주 샌프란시스코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200400"/>
            <a:ext cx="2194560" cy="758952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2194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공동 창업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3200400"/>
            <a:ext cx="8321040" cy="758952"/>
          </a:xfrm>
          <a:prstGeom prst="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3200400"/>
            <a:ext cx="8046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  <a:ea typeface="맑은 고딕"/>
              </a:rPr>
              <a:t>Dario Amodei(CEO), Daniela Amodei(President) 등
OpenAI 출신 연구진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2194560" cy="758952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69080"/>
            <a:ext cx="2194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법인 형태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4069080"/>
            <a:ext cx="8321040" cy="758952"/>
          </a:xfrm>
          <a:prstGeom prst="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4069080"/>
            <a:ext cx="8046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  <a:ea typeface="맑은 고딕"/>
              </a:rPr>
              <a:t>공익법인(Public Benefit Corporation)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37760"/>
            <a:ext cx="2194560" cy="758952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219456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주요 사업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4937760"/>
            <a:ext cx="8321040" cy="758952"/>
          </a:xfrm>
          <a:prstGeom prst="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4937760"/>
            <a:ext cx="8046720" cy="758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맑은 고딕"/>
                <a:ea typeface="맑은 고딕"/>
              </a:rPr>
              <a:t>AI 안전 연구 및 대규모 언어 모델 Claude 개발·서비스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4864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33333"/>
                </a:solidFill>
                <a:latin typeface="맑은 고딕"/>
                <a:ea typeface="맑은 고딕"/>
              </a:rPr>
              <a:t>미션과 핵심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7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E8742A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E8742A"/>
                </a:solidFill>
                <a:latin typeface="맑은 고딕"/>
                <a:ea typeface="맑은 고딕"/>
              </a:rPr>
              <a:t>“AI 전환기를 인류가 안전하게 지나도록 돕는다”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383280" cy="3931920"/>
          </a:xfrm>
          <a:prstGeom prst="round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3383280" cy="914400"/>
          </a:xfrm>
          <a:prstGeom prst="round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Constitutional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명시된 원칙(헌법)을 바탕으로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모델이 스스로 답변을 점검하고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개선하도록 학습시키는 방법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83280" cy="3931920"/>
          </a:xfrm>
          <a:prstGeom prst="round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914400"/>
          </a:xfrm>
          <a:prstGeom prst="round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책임 있는 확장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Responsible Scaling Policy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모델 능력이 커질수록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더 강한 안전 조치를 단계적으로 적용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03120"/>
            <a:ext cx="3383280" cy="3931920"/>
          </a:xfrm>
          <a:prstGeom prst="roundRect">
            <a:avLst/>
          </a:prstGeom>
          <a:solidFill>
            <a:srgbClr val="FB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2103120"/>
            <a:ext cx="3383280" cy="914400"/>
          </a:xfrm>
          <a:prstGeom prst="round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103120"/>
            <a:ext cx="33832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해석 가능성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3200400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Interpretability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모델 내부가 어떻게 작동하는지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  <a:ea typeface="맑은 고딕"/>
              </a:rPr>
              <a:t>들여다보고 이해하려는 연구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4864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33333"/>
                </a:solidFill>
                <a:latin typeface="맑은 고딕"/>
                <a:ea typeface="맑은 고딕"/>
              </a:rPr>
              <a:t>주요 제품: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7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E8742A"/>
                </a:solidFill>
                <a:latin typeface="맑은 고딕"/>
                <a:ea typeface="맑은 고딕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6304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0"/>
              </a:tblGrid>
              <a:tr h="8412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E87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E874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742A"/>
                          </a:solidFill>
                          <a:latin typeface="맑은 고딕"/>
                          <a:ea typeface="맑은 고딕"/>
                        </a:rPr>
                        <a:t>모델 라인업</a:t>
                      </a:r>
                    </a:p>
                  </a:txBody>
                  <a:tcPr anchor="ctr">
                    <a:solidFill>
                      <a:srgbClr val="FB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Opus(최고 성능) · Sonnet(성능과 속도 균형) · Haiku(빠르고 경제적)</a:t>
                      </a:r>
                    </a:p>
                  </a:txBody>
                  <a:tcPr anchor="ctr">
                    <a:solidFill>
                      <a:srgbClr val="FBF1E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742A"/>
                          </a:solidFill>
                          <a:latin typeface="맑은 고딕"/>
                          <a:ea typeface="맑은 고딕"/>
                        </a:rPr>
                        <a:t>이용 채널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claude.ai 웹·데스크톱·모바일 앱, Claude API(개발자용)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742A"/>
                          </a:solidFill>
                          <a:latin typeface="맑은 고딕"/>
                          <a:ea typeface="맑은 고딕"/>
                        </a:rPr>
                        <a:t>개발 도구</a:t>
                      </a:r>
                    </a:p>
                  </a:txBody>
                  <a:tcPr anchor="ctr">
                    <a:solidFill>
                      <a:srgbClr val="FB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Claude Code: 터미널·IDE에서 쓰는 코딩 에이전트</a:t>
                      </a:r>
                    </a:p>
                  </a:txBody>
                  <a:tcPr anchor="ctr">
                    <a:solidFill>
                      <a:srgbClr val="FBF1E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E8742A"/>
                          </a:solidFill>
                          <a:latin typeface="맑은 고딕"/>
                          <a:ea typeface="맑은 고딕"/>
                        </a:rPr>
                        <a:t>주요 활용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글쓰기·요약, 코딩, 데이터 분석, 문서 작성, 업무 자동화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09728" cy="548640"/>
          </a:xfrm>
          <a:prstGeom prst="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33333"/>
                </a:solidFill>
                <a:latin typeface="맑은 고딕"/>
                <a:ea typeface="맑은 고딕"/>
              </a:rPr>
              <a:t>정리 및 전망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720" y="63093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E8742A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  <a:ea typeface="맑은 고딕"/>
              </a:rPr>
              <a:t>안전을 최우선으로 하는 AI 연구 기업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06040"/>
            <a:ext cx="822960" cy="822960"/>
          </a:xfrm>
          <a:prstGeom prst="ellipse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  <a:ea typeface="맑은 고딕"/>
              </a:rPr>
              <a:t>Claude 모델군으로 개인·기업·개발자에게 AI 제공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57600"/>
            <a:ext cx="822960" cy="822960"/>
          </a:xfrm>
          <a:prstGeom prst="ellipse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9509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333333"/>
                </a:solidFill>
                <a:latin typeface="맑은 고딕"/>
                <a:ea typeface="맑은 고딕"/>
              </a:rPr>
              <a:t>안전 연구와 제품 개발을 함께 추진하며 업계 기준 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37760"/>
            <a:ext cx="10607040" cy="1005840"/>
          </a:xfrm>
          <a:prstGeom prst="roundRect">
            <a:avLst/>
          </a:prstGeom>
          <a:solidFill>
            <a:srgbClr val="E87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안전하고 신뢰할 수 있는 AI, Anthropic이 그리는 미래입니다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